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08" autoAdjust="0"/>
  </p:normalViewPr>
  <p:slideViewPr>
    <p:cSldViewPr snapToGrid="0">
      <p:cViewPr varScale="1">
        <p:scale>
          <a:sx n="64" d="100"/>
          <a:sy n="64" d="100"/>
        </p:scale>
        <p:origin x="73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100" dirty="0"/>
              <a:t>Win</a:t>
            </a:r>
            <a:r>
              <a:rPr lang="zh-CN" altLang="en-US" sz="1100" dirty="0"/>
              <a:t>覆盖软件占比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win覆盖的软件数量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网盘</c:v>
                </c:pt>
                <c:pt idx="1">
                  <c:v>云笔记</c:v>
                </c:pt>
                <c:pt idx="2">
                  <c:v>即时通信IM</c:v>
                </c:pt>
                <c:pt idx="3">
                  <c:v>电子邮箱</c:v>
                </c:pt>
                <c:pt idx="4">
                  <c:v>文件传输工具</c:v>
                </c:pt>
                <c:pt idx="5">
                  <c:v>硬件外设</c:v>
                </c:pt>
                <c:pt idx="6">
                  <c:v>浏览器</c:v>
                </c:pt>
                <c:pt idx="7">
                  <c:v>远控</c:v>
                </c:pt>
                <c:pt idx="8">
                  <c:v>AI助手</c:v>
                </c:pt>
                <c:pt idx="9">
                  <c:v>代码托管平台</c:v>
                </c:pt>
                <c:pt idx="10">
                  <c:v>系统工具</c:v>
                </c:pt>
                <c:pt idx="11">
                  <c:v>云博客</c:v>
                </c:pt>
                <c:pt idx="12">
                  <c:v>虚拟机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6</c:v>
                </c:pt>
                <c:pt idx="2">
                  <c:v>10</c:v>
                </c:pt>
                <c:pt idx="3">
                  <c:v>12</c:v>
                </c:pt>
                <c:pt idx="4">
                  <c:v>0</c:v>
                </c:pt>
                <c:pt idx="5">
                  <c:v>1</c:v>
                </c:pt>
                <c:pt idx="6">
                  <c:v>9</c:v>
                </c:pt>
                <c:pt idx="7">
                  <c:v>3</c:v>
                </c:pt>
                <c:pt idx="8">
                  <c:v>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18-4428-B8DB-02404C37F7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win未覆盖的软件数量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2727272727272726E-3"/>
                  <c:y val="-0.1147748785649565"/>
                </c:manualLayout>
              </c:layout>
              <c:tx>
                <c:rich>
                  <a:bodyPr/>
                  <a:lstStyle/>
                  <a:p>
                    <a:fld id="{4ED5ACE6-B2DB-4F4A-A8EB-E7AABA34735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2218-4428-B8DB-02404C37F74D}"/>
                </c:ext>
              </c:extLst>
            </c:dLbl>
            <c:dLbl>
              <c:idx val="1"/>
              <c:layout>
                <c:manualLayout>
                  <c:x val="6.8181818181818179E-3"/>
                  <c:y val="-0.13972593912255568"/>
                </c:manualLayout>
              </c:layout>
              <c:tx>
                <c:rich>
                  <a:bodyPr/>
                  <a:lstStyle/>
                  <a:p>
                    <a:fld id="{3CB8F600-6304-4A70-874C-E4893784A969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2218-4428-B8DB-02404C37F74D}"/>
                </c:ext>
              </c:extLst>
            </c:dLbl>
            <c:dLbl>
              <c:idx val="2"/>
              <c:layout>
                <c:manualLayout>
                  <c:x val="2.272727272727231E-3"/>
                  <c:y val="-7.9843393784317526E-2"/>
                </c:manualLayout>
              </c:layout>
              <c:tx>
                <c:rich>
                  <a:bodyPr/>
                  <a:lstStyle/>
                  <a:p>
                    <a:fld id="{23483B50-10D0-4F4C-B402-3BCA91EB7F0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2218-4428-B8DB-02404C37F74D}"/>
                </c:ext>
              </c:extLst>
            </c:dLbl>
            <c:dLbl>
              <c:idx val="3"/>
              <c:layout>
                <c:manualLayout>
                  <c:x val="2.272727272727231E-3"/>
                  <c:y val="-4.9902121115198504E-2"/>
                </c:manualLayout>
              </c:layout>
              <c:tx>
                <c:rich>
                  <a:bodyPr/>
                  <a:lstStyle/>
                  <a:p>
                    <a:fld id="{D193B109-2F83-4EF0-B8BF-06FCF025254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2218-4428-B8DB-02404C37F74D}"/>
                </c:ext>
              </c:extLst>
            </c:dLbl>
            <c:dLbl>
              <c:idx val="4"/>
              <c:layout>
                <c:manualLayout>
                  <c:x val="4.5454545454545036E-3"/>
                  <c:y val="-0.11976509067647625"/>
                </c:manualLayout>
              </c:layout>
              <c:tx>
                <c:rich>
                  <a:bodyPr/>
                  <a:lstStyle/>
                  <a:p>
                    <a:fld id="{148CCEDF-248B-4264-B28D-671749B950A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2218-4428-B8DB-02404C37F74D}"/>
                </c:ext>
              </c:extLst>
            </c:dLbl>
            <c:dLbl>
              <c:idx val="5"/>
              <c:layout>
                <c:manualLayout>
                  <c:x val="0"/>
                  <c:y val="-6.4872757449757998E-2"/>
                </c:manualLayout>
              </c:layout>
              <c:tx>
                <c:rich>
                  <a:bodyPr/>
                  <a:lstStyle/>
                  <a:p>
                    <a:fld id="{4A0E8536-18F8-46A1-9F0A-D795AAA45A1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2218-4428-B8DB-02404C37F74D}"/>
                </c:ext>
              </c:extLst>
            </c:dLbl>
            <c:dLbl>
              <c:idx val="6"/>
              <c:layout>
                <c:manualLayout>
                  <c:x val="2.2727272727272726E-3"/>
                  <c:y val="-4.4911909003678613E-2"/>
                </c:manualLayout>
              </c:layout>
              <c:tx>
                <c:rich>
                  <a:bodyPr/>
                  <a:lstStyle/>
                  <a:p>
                    <a:fld id="{1F987D1E-2748-49D5-934A-75B2CFAE106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2218-4428-B8DB-02404C37F74D}"/>
                </c:ext>
              </c:extLst>
            </c:dLbl>
            <c:dLbl>
              <c:idx val="7"/>
              <c:layout>
                <c:manualLayout>
                  <c:x val="-2.2727272727272726E-3"/>
                  <c:y val="-6.4872757449757998E-2"/>
                </c:manualLayout>
              </c:layout>
              <c:tx>
                <c:rich>
                  <a:bodyPr/>
                  <a:lstStyle/>
                  <a:p>
                    <a:fld id="{CF0537F9-A316-4151-B361-D0214CBCBD8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2218-4428-B8DB-02404C37F74D}"/>
                </c:ext>
              </c:extLst>
            </c:dLbl>
            <c:dLbl>
              <c:idx val="8"/>
              <c:layout>
                <c:manualLayout>
                  <c:x val="-2.2727272727272726E-3"/>
                  <c:y val="-6.4872757449757998E-2"/>
                </c:manualLayout>
              </c:layout>
              <c:tx>
                <c:rich>
                  <a:bodyPr/>
                  <a:lstStyle/>
                  <a:p>
                    <a:fld id="{88887EDC-F286-4B9C-AF30-9EF842E2C2C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2218-4428-B8DB-02404C37F74D}"/>
                </c:ext>
              </c:extLst>
            </c:dLbl>
            <c:dLbl>
              <c:idx val="9"/>
              <c:layout>
                <c:manualLayout>
                  <c:x val="2.2727272727271894E-3"/>
                  <c:y val="-6.9862969561277841E-2"/>
                </c:manualLayout>
              </c:layout>
              <c:tx>
                <c:rich>
                  <a:bodyPr/>
                  <a:lstStyle/>
                  <a:p>
                    <a:fld id="{9C528DC2-382F-44ED-8584-1C9E864E10A4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2218-4428-B8DB-02404C37F74D}"/>
                </c:ext>
              </c:extLst>
            </c:dLbl>
            <c:dLbl>
              <c:idx val="10"/>
              <c:layout>
                <c:manualLayout>
                  <c:x val="0"/>
                  <c:y val="-3.493148478063892E-2"/>
                </c:manualLayout>
              </c:layout>
              <c:tx>
                <c:rich>
                  <a:bodyPr/>
                  <a:lstStyle/>
                  <a:p>
                    <a:fld id="{5600D035-5DDF-4A04-AFA1-27D262B3BE87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2218-4428-B8DB-02404C37F74D}"/>
                </c:ext>
              </c:extLst>
            </c:dLbl>
            <c:dLbl>
              <c:idx val="11"/>
              <c:layout>
                <c:manualLayout>
                  <c:x val="0"/>
                  <c:y val="-3.493148478063892E-2"/>
                </c:manualLayout>
              </c:layout>
              <c:tx>
                <c:rich>
                  <a:bodyPr/>
                  <a:lstStyle/>
                  <a:p>
                    <a:fld id="{2FCAAD03-CB16-4110-9495-D877B69DC4F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2218-4428-B8DB-02404C37F74D}"/>
                </c:ext>
              </c:extLst>
            </c:dLbl>
            <c:dLbl>
              <c:idx val="12"/>
              <c:layout>
                <c:manualLayout>
                  <c:x val="0"/>
                  <c:y val="-2.9941272669119074E-2"/>
                </c:manualLayout>
              </c:layout>
              <c:tx>
                <c:rich>
                  <a:bodyPr/>
                  <a:lstStyle/>
                  <a:p>
                    <a:fld id="{EB8965F5-96FC-4E40-B842-14C94BD5C1D2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F-2218-4428-B8DB-02404C37F7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网盘</c:v>
                </c:pt>
                <c:pt idx="1">
                  <c:v>云笔记</c:v>
                </c:pt>
                <c:pt idx="2">
                  <c:v>即时通信IM</c:v>
                </c:pt>
                <c:pt idx="3">
                  <c:v>电子邮箱</c:v>
                </c:pt>
                <c:pt idx="4">
                  <c:v>文件传输工具</c:v>
                </c:pt>
                <c:pt idx="5">
                  <c:v>硬件外设</c:v>
                </c:pt>
                <c:pt idx="6">
                  <c:v>浏览器</c:v>
                </c:pt>
                <c:pt idx="7">
                  <c:v>远控</c:v>
                </c:pt>
                <c:pt idx="8">
                  <c:v>AI助手</c:v>
                </c:pt>
                <c:pt idx="9">
                  <c:v>代码托管平台</c:v>
                </c:pt>
                <c:pt idx="10">
                  <c:v>系统工具</c:v>
                </c:pt>
                <c:pt idx="11">
                  <c:v>云博客</c:v>
                </c:pt>
                <c:pt idx="12">
                  <c:v>虚拟机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4</c:v>
                </c:pt>
                <c:pt idx="3">
                  <c:v>1</c:v>
                </c:pt>
                <c:pt idx="4">
                  <c:v>11</c:v>
                </c:pt>
                <c:pt idx="5">
                  <c:v>9</c:v>
                </c:pt>
                <c:pt idx="6">
                  <c:v>0</c:v>
                </c:pt>
                <c:pt idx="7">
                  <c:v>5</c:v>
                </c:pt>
                <c:pt idx="8">
                  <c:v>5</c:v>
                </c:pt>
                <c:pt idx="9">
                  <c:v>3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Sheet1!$E$2:$E$14</c15:f>
                <c15:dlblRangeCache>
                  <c:ptCount val="13"/>
                  <c:pt idx="0">
                    <c:v>41%</c:v>
                  </c:pt>
                  <c:pt idx="1">
                    <c:v>30%</c:v>
                  </c:pt>
                  <c:pt idx="2">
                    <c:v>71%</c:v>
                  </c:pt>
                  <c:pt idx="3">
                    <c:v>92%</c:v>
                  </c:pt>
                  <c:pt idx="4">
                    <c:v>0%</c:v>
                  </c:pt>
                  <c:pt idx="5">
                    <c:v>10%</c:v>
                  </c:pt>
                  <c:pt idx="6">
                    <c:v>100%</c:v>
                  </c:pt>
                  <c:pt idx="7">
                    <c:v>38%</c:v>
                  </c:pt>
                  <c:pt idx="8">
                    <c:v>38%</c:v>
                  </c:pt>
                  <c:pt idx="9">
                    <c:v>0%</c:v>
                  </c:pt>
                  <c:pt idx="10">
                    <c:v>0%</c:v>
                  </c:pt>
                  <c:pt idx="11">
                    <c:v>0%</c:v>
                  </c:pt>
                  <c:pt idx="12">
                    <c:v>100%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2218-4428-B8DB-02404C37F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79812991"/>
        <c:axId val="1679796191"/>
      </c:barChart>
      <c:catAx>
        <c:axId val="1679812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79796191"/>
        <c:crosses val="autoZero"/>
        <c:auto val="1"/>
        <c:lblAlgn val="ctr"/>
        <c:lblOffset val="100"/>
        <c:noMultiLvlLbl val="0"/>
      </c:catAx>
      <c:valAx>
        <c:axId val="1679796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79812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100" dirty="0"/>
              <a:t>mac</a:t>
            </a:r>
            <a:r>
              <a:rPr lang="zh-CN" altLang="en-US" sz="1100" dirty="0"/>
              <a:t>覆盖软件占比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mac覆盖的软件数量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网盘</c:v>
                </c:pt>
                <c:pt idx="1">
                  <c:v>云笔记</c:v>
                </c:pt>
                <c:pt idx="2">
                  <c:v>即时通信IM</c:v>
                </c:pt>
                <c:pt idx="3">
                  <c:v>电子邮箱</c:v>
                </c:pt>
                <c:pt idx="4">
                  <c:v>文件传输工具</c:v>
                </c:pt>
                <c:pt idx="5">
                  <c:v>硬件外设</c:v>
                </c:pt>
                <c:pt idx="6">
                  <c:v>浏览器</c:v>
                </c:pt>
                <c:pt idx="7">
                  <c:v>远控</c:v>
                </c:pt>
                <c:pt idx="8">
                  <c:v>AI助手</c:v>
                </c:pt>
                <c:pt idx="9">
                  <c:v>代码托管平台</c:v>
                </c:pt>
                <c:pt idx="10">
                  <c:v>系统工具</c:v>
                </c:pt>
                <c:pt idx="11">
                  <c:v>云博客</c:v>
                </c:pt>
                <c:pt idx="12">
                  <c:v>虚拟机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6</c:v>
                </c:pt>
                <c:pt idx="2">
                  <c:v>10</c:v>
                </c:pt>
                <c:pt idx="3">
                  <c:v>15</c:v>
                </c:pt>
                <c:pt idx="4">
                  <c:v>0</c:v>
                </c:pt>
                <c:pt idx="5">
                  <c:v>0</c:v>
                </c:pt>
                <c:pt idx="6">
                  <c:v>8</c:v>
                </c:pt>
                <c:pt idx="7">
                  <c:v>1</c:v>
                </c:pt>
                <c:pt idx="8">
                  <c:v>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AE-40A1-832B-D631552CE4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mac未覆盖的数量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8316344602192825E-18"/>
                  <c:y val="-0.15357309367152555"/>
                </c:manualLayout>
              </c:layout>
              <c:tx>
                <c:rich>
                  <a:bodyPr/>
                  <a:lstStyle/>
                  <a:p>
                    <a:fld id="{20E8C097-441B-4204-B9D9-281F94A4FD4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F8AE-40A1-832B-D631552CE4B1}"/>
                </c:ext>
              </c:extLst>
            </c:dLbl>
            <c:dLbl>
              <c:idx val="1"/>
              <c:layout>
                <c:manualLayout>
                  <c:x val="0"/>
                  <c:y val="-0.12371165879095114"/>
                </c:manualLayout>
              </c:layout>
              <c:tx>
                <c:rich>
                  <a:bodyPr/>
                  <a:lstStyle/>
                  <a:p>
                    <a:fld id="{31B22A7F-2FEB-402F-9D6F-AE2B47C5FD5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F8AE-40A1-832B-D631552CE4B1}"/>
                </c:ext>
              </c:extLst>
            </c:dLbl>
            <c:dLbl>
              <c:idx val="2"/>
              <c:layout>
                <c:manualLayout>
                  <c:x val="0"/>
                  <c:y val="-3.4127354149227983E-2"/>
                </c:manualLayout>
              </c:layout>
              <c:tx>
                <c:rich>
                  <a:bodyPr/>
                  <a:lstStyle/>
                  <a:p>
                    <a:fld id="{2A2AB773-520A-4B51-98AC-6ADDFEACEC1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F8AE-40A1-832B-D631552CE4B1}"/>
                </c:ext>
              </c:extLst>
            </c:dLbl>
            <c:dLbl>
              <c:idx val="3"/>
              <c:layout>
                <c:manualLayout>
                  <c:x val="0"/>
                  <c:y val="-4.2659192686534876E-2"/>
                </c:manualLayout>
              </c:layout>
              <c:tx>
                <c:rich>
                  <a:bodyPr/>
                  <a:lstStyle/>
                  <a:p>
                    <a:fld id="{EFFD07D9-ACD8-45C3-8C46-F4979ABFC14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F8AE-40A1-832B-D631552CE4B1}"/>
                </c:ext>
              </c:extLst>
            </c:dLbl>
            <c:dLbl>
              <c:idx val="4"/>
              <c:layout>
                <c:manualLayout>
                  <c:x val="-7.865307568175426E-17"/>
                  <c:y val="-3.8393273417881388E-2"/>
                </c:manualLayout>
              </c:layout>
              <c:tx>
                <c:rich>
                  <a:bodyPr/>
                  <a:lstStyle/>
                  <a:p>
                    <a:fld id="{53FC8A92-14DA-4389-A1A7-CB3260D690DB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F8AE-40A1-832B-D631552CE4B1}"/>
                </c:ext>
              </c:extLst>
            </c:dLbl>
            <c:dLbl>
              <c:idx val="5"/>
              <c:layout>
                <c:manualLayout>
                  <c:x val="0"/>
                  <c:y val="-2.9861434880574491E-2"/>
                </c:manualLayout>
              </c:layout>
              <c:tx>
                <c:rich>
                  <a:bodyPr/>
                  <a:lstStyle/>
                  <a:p>
                    <a:fld id="{C32188F5-947F-4AB8-BAAC-6339953102A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F8AE-40A1-832B-D631552CE4B1}"/>
                </c:ext>
              </c:extLst>
            </c:dLbl>
            <c:dLbl>
              <c:idx val="6"/>
              <c:layout>
                <c:manualLayout>
                  <c:x val="-6.4353259872652275E-3"/>
                  <c:y val="-1.706367707461395E-2"/>
                </c:manualLayout>
              </c:layout>
              <c:tx>
                <c:rich>
                  <a:bodyPr/>
                  <a:lstStyle/>
                  <a:p>
                    <a:fld id="{9013CBC6-4E79-43E1-843C-3DDFF6612E53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F8AE-40A1-832B-D631552CE4B1}"/>
                </c:ext>
              </c:extLst>
            </c:dLbl>
            <c:dLbl>
              <c:idx val="7"/>
              <c:layout>
                <c:manualLayout>
                  <c:x val="2.1451086624217162E-3"/>
                  <c:y val="-6.8254708298455882E-2"/>
                </c:manualLayout>
              </c:layout>
              <c:tx>
                <c:rich>
                  <a:bodyPr/>
                  <a:lstStyle/>
                  <a:p>
                    <a:fld id="{1C9993CF-4A36-4BDD-BB46-E77CEF4D7C1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F8AE-40A1-832B-D631552CE4B1}"/>
                </c:ext>
              </c:extLst>
            </c:dLbl>
            <c:dLbl>
              <c:idx val="8"/>
              <c:layout>
                <c:manualLayout>
                  <c:x val="7.865307568175426E-17"/>
                  <c:y val="-5.9722869761148906E-2"/>
                </c:manualLayout>
              </c:layout>
              <c:tx>
                <c:rich>
                  <a:bodyPr/>
                  <a:lstStyle/>
                  <a:p>
                    <a:fld id="{90B42283-51E2-48B0-B128-2A01A6F8567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F8AE-40A1-832B-D631552CE4B1}"/>
                </c:ext>
              </c:extLst>
            </c:dLbl>
            <c:dLbl>
              <c:idx val="9"/>
              <c:layout>
                <c:manualLayout>
                  <c:x val="-1.5730615136350852E-16"/>
                  <c:y val="-5.5456950492495417E-2"/>
                </c:manualLayout>
              </c:layout>
              <c:tx>
                <c:rich>
                  <a:bodyPr/>
                  <a:lstStyle/>
                  <a:p>
                    <a:fld id="{6B356C68-4342-4B58-8C82-D9BC925BF57E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F8AE-40A1-832B-D631552CE4B1}"/>
                </c:ext>
              </c:extLst>
            </c:dLbl>
            <c:dLbl>
              <c:idx val="10"/>
              <c:layout>
                <c:manualLayout>
                  <c:x val="0"/>
                  <c:y val="-2.5595515611921006E-2"/>
                </c:manualLayout>
              </c:layout>
              <c:tx>
                <c:rich>
                  <a:bodyPr/>
                  <a:lstStyle/>
                  <a:p>
                    <a:fld id="{B3ACA30C-B6BB-4C17-B7AE-50B41B5E3871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F8AE-40A1-832B-D631552CE4B1}"/>
                </c:ext>
              </c:extLst>
            </c:dLbl>
            <c:dLbl>
              <c:idx val="11"/>
              <c:layout>
                <c:manualLayout>
                  <c:x val="0"/>
                  <c:y val="-2.5595515611920926E-2"/>
                </c:manualLayout>
              </c:layout>
              <c:tx>
                <c:rich>
                  <a:bodyPr/>
                  <a:lstStyle/>
                  <a:p>
                    <a:fld id="{E40E7B16-5624-4D91-ACFC-107682CF4318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D-F8AE-40A1-832B-D631552CE4B1}"/>
                </c:ext>
              </c:extLst>
            </c:dLbl>
            <c:dLbl>
              <c:idx val="12"/>
              <c:layout>
                <c:manualLayout>
                  <c:x val="2.1451086624217162E-3"/>
                  <c:y val="-3.41273541492279E-2"/>
                </c:manualLayout>
              </c:layout>
              <c:tx>
                <c:rich>
                  <a:bodyPr/>
                  <a:lstStyle/>
                  <a:p>
                    <a:fld id="{FEE5056F-EB09-4F48-8A79-7426411FDD3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E-F8AE-40A1-832B-D631552CE4B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网盘</c:v>
                </c:pt>
                <c:pt idx="1">
                  <c:v>云笔记</c:v>
                </c:pt>
                <c:pt idx="2">
                  <c:v>即时通信IM</c:v>
                </c:pt>
                <c:pt idx="3">
                  <c:v>电子邮箱</c:v>
                </c:pt>
                <c:pt idx="4">
                  <c:v>文件传输工具</c:v>
                </c:pt>
                <c:pt idx="5">
                  <c:v>硬件外设</c:v>
                </c:pt>
                <c:pt idx="6">
                  <c:v>浏览器</c:v>
                </c:pt>
                <c:pt idx="7">
                  <c:v>远控</c:v>
                </c:pt>
                <c:pt idx="8">
                  <c:v>AI助手</c:v>
                </c:pt>
                <c:pt idx="9">
                  <c:v>代码托管平台</c:v>
                </c:pt>
                <c:pt idx="10">
                  <c:v>系统工具</c:v>
                </c:pt>
                <c:pt idx="11">
                  <c:v>云博客</c:v>
                </c:pt>
                <c:pt idx="12">
                  <c:v>虚拟机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17</c:v>
                </c:pt>
                <c:pt idx="1">
                  <c:v>15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0</c:v>
                </c:pt>
                <c:pt idx="7">
                  <c:v>6</c:v>
                </c:pt>
                <c:pt idx="8">
                  <c:v>6</c:v>
                </c:pt>
                <c:pt idx="9">
                  <c:v>4</c:v>
                </c:pt>
                <c:pt idx="10">
                  <c:v>2</c:v>
                </c:pt>
                <c:pt idx="11">
                  <c:v>1</c:v>
                </c:pt>
                <c:pt idx="12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Sheet1!$E$2:$E$14</c15:f>
                <c15:dlblRangeCache>
                  <c:ptCount val="13"/>
                  <c:pt idx="0">
                    <c:v>32%</c:v>
                  </c:pt>
                  <c:pt idx="1">
                    <c:v>29%</c:v>
                  </c:pt>
                  <c:pt idx="2">
                    <c:v>77%</c:v>
                  </c:pt>
                  <c:pt idx="3">
                    <c:v>94%</c:v>
                  </c:pt>
                  <c:pt idx="4">
                    <c:v>0%</c:v>
                  </c:pt>
                  <c:pt idx="5">
                    <c:v>0%</c:v>
                  </c:pt>
                  <c:pt idx="6">
                    <c:v>100%</c:v>
                  </c:pt>
                  <c:pt idx="7">
                    <c:v>14%</c:v>
                  </c:pt>
                  <c:pt idx="8">
                    <c:v>25%</c:v>
                  </c:pt>
                  <c:pt idx="9">
                    <c:v>0%</c:v>
                  </c:pt>
                  <c:pt idx="10">
                    <c:v>0%</c:v>
                  </c:pt>
                  <c:pt idx="11">
                    <c:v>0%</c:v>
                  </c:pt>
                  <c:pt idx="12">
                    <c:v>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F8AE-40A1-832B-D631552CE4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79812991"/>
        <c:axId val="1679796191"/>
      </c:barChart>
      <c:catAx>
        <c:axId val="1679812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79796191"/>
        <c:crosses val="autoZero"/>
        <c:auto val="1"/>
        <c:lblAlgn val="ctr"/>
        <c:lblOffset val="100"/>
        <c:noMultiLvlLbl val="0"/>
      </c:catAx>
      <c:valAx>
        <c:axId val="1679796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79812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84866-1F54-41AA-9F86-531DEE26366D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02FB9-38F9-49C4-9C87-56F2DD85F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智研接口覆盖看板：</a:t>
            </a:r>
            <a:r>
              <a:rPr lang="en-US" altLang="zh-CN" dirty="0"/>
              <a:t>https://zhiyan.woa.com/plugin_ifbook/8691/overview/#/ifbook/overview</a:t>
            </a:r>
          </a:p>
          <a:p>
            <a:r>
              <a:rPr lang="zh-CN" altLang="en-US" dirty="0"/>
              <a:t>版本回归测试用例智研地址：</a:t>
            </a:r>
            <a:r>
              <a:rPr lang="en-US" altLang="zh-CN" dirty="0"/>
              <a:t>https://zhiyan.woa.com/testx/8691/cases/#/testx/ioa_backend/case/repos/36477/vers/45382/folders/47487089/in-page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02FB9-38F9-49C4-9C87-56F2DD85F82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584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绿色表示已完成，蓝色表示待完成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02FB9-38F9-49C4-9C87-56F2DD85F8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695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E4024-DF21-26FC-6EB5-ADF0F672E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B2AB6D-C210-82EC-23AC-2EB663FBB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C0261B-922B-0CEF-F1C9-7598E41D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DF1622-77CB-0EB7-CB58-C092CD68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A2EB60-1891-E061-10E9-4A11BBB2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429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ECCA39-980E-4CE9-1583-58C46D0C6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B64126-2A64-CB10-E55D-647B0B874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7FB77F-B261-837D-BB74-00BD1419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AB7E9A-000C-3A6B-DE0A-F3E1180B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C68B1C-C0BE-F63F-AA07-0616BD3E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49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585AC-7392-BE53-8452-7382B553E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B83C2B-4971-0B58-79BA-C1335249B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05C18C-810F-D29D-DF84-FE6116F7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22666-F893-0FB8-6AD3-137DFF79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A3BDC6-6712-C662-0C14-4E63AA60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02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6E5F3-F502-A9FD-8C6C-22ED83B65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AB2D7-0D23-8A79-DAA9-764971A84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6649F9-7AE8-7CE2-C79A-F64442A37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6EF2D8-4B08-3950-5D19-9706A469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238532-8640-BD67-5456-1D0D4DE4A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033AE-8B06-C59A-FD4D-05C25355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48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C814A-CB19-CF23-0341-92CFF3F2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E09A3D-58DE-7B8B-75CC-144BD55BF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998A34-A31D-3EA2-A1E8-603F5D2E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BBF1DA-AFDA-87B4-B09C-988D877A4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CA7674-269E-ED8D-C647-7B31AD610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21CD92-6699-6662-3627-F8D88676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68E80A-BA30-9825-C024-D219B12D1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04F0AF-CAD3-FA02-8842-A4440ED4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718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B1830-D048-3876-A989-7E8191892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7CC702-C343-3F60-92D9-67B4059A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47A809-B6BE-18E3-106C-935172DE0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A28439-18C2-E27C-E5C4-1E540637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63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228DF1-CE43-978F-8CB9-68ED913F9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45A6E2-E4E7-0B51-C4B8-8EF3BC70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37EBC6-30E1-158F-5D0E-26A87F70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57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49C74-9A03-7D19-0E06-4F99B8AB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29F24-0BDC-FE8A-5C9D-D74876B19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33C896-942E-E042-A6EF-AC497D257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FC4E46-7A58-3BE1-1569-15CA0966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1014CA-741F-93AC-071D-9FCAEDA0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E8227B-2B47-FCCD-2CA0-2CA829D1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362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97885-A224-1DFE-3985-C9758DE0B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DBCD3F-6B8F-2BB0-9119-901381DB7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A03790-DDA3-DE9A-03A6-E5B6C3B31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CE86F1-4155-78DC-880C-AF0ABEB8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F62605-4B80-3C87-6812-611E45EC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BFB20A-673A-9DA2-F500-9A5E4F02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69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4ACCE-528F-31B4-B53B-D4A24D08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9F1313-F588-195F-CC24-47D617768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DF1BB2-0798-2ED8-3FEC-9C6C3860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AAB72B-2950-0485-CE78-84414691B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581502-AF37-4612-EF08-E6925E12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68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8AA83F-BFE6-0CA9-B4C1-4AE24B75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789D8F-5165-F0E4-0670-65A3CEF13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36019B-F53E-4E08-EC03-54D81EAD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B954D1-2A14-C146-31C3-F237F812A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6D651A-1DF0-A0E8-7BD1-34E0CBA8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38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69207E-401B-0778-901E-DF53E6E98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533373-6AB6-FC3A-C429-739C4E42C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3911D9-0052-EE9D-62AF-409F50965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8475B-C118-4D07-878F-D7EDAECF6591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A4F13-FEA7-839C-E666-7A52B921B6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E121DD-F0D3-211B-91A4-B1E7AB8F5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9EDBA-2FD5-46C5-B05A-4038C2F300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22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F8631-F21A-7F94-25A5-CB920FE4E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1C05ED-55A9-F6B9-3FD9-0E76317B1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23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868A3F8-37C4-29EF-AA34-2E0FB1FEA668}"/>
              </a:ext>
            </a:extLst>
          </p:cNvPr>
          <p:cNvSpPr txBox="1"/>
          <p:nvPr/>
        </p:nvSpPr>
        <p:spPr>
          <a:xfrm>
            <a:off x="622491" y="269456"/>
            <a:ext cx="489888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自动化测试进展汇报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1D662D-F550-C019-93AA-E13EC79942CA}"/>
              </a:ext>
            </a:extLst>
          </p:cNvPr>
          <p:cNvSpPr txBox="1"/>
          <p:nvPr/>
        </p:nvSpPr>
        <p:spPr>
          <a:xfrm>
            <a:off x="392726" y="877609"/>
            <a:ext cx="5128652" cy="369332"/>
          </a:xfrm>
          <a:prstGeom prst="rect">
            <a:avLst/>
          </a:prstGeom>
          <a:solidFill>
            <a:srgbClr val="C1E5F5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一、</a:t>
            </a:r>
            <a:r>
              <a:rPr lang="en-US" altLang="zh-CN" dirty="0"/>
              <a:t>【</a:t>
            </a:r>
            <a:r>
              <a:rPr lang="en-US" altLang="zh-CN" dirty="0" err="1"/>
              <a:t>iOA</a:t>
            </a:r>
            <a:r>
              <a:rPr lang="en-US" altLang="zh-CN" dirty="0"/>
              <a:t>】</a:t>
            </a:r>
            <a:r>
              <a:rPr lang="zh-CN" altLang="en-US" dirty="0"/>
              <a:t>发布版本回归测试用例自动化进展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71572E-1382-42CA-1E2E-50F14D460FCB}"/>
              </a:ext>
            </a:extLst>
          </p:cNvPr>
          <p:cNvSpPr txBox="1"/>
          <p:nvPr/>
        </p:nvSpPr>
        <p:spPr>
          <a:xfrm>
            <a:off x="392726" y="1246941"/>
            <a:ext cx="512865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私有化</a:t>
            </a:r>
            <a:r>
              <a:rPr lang="en-US" altLang="zh-CN" dirty="0"/>
              <a:t>win</a:t>
            </a:r>
            <a:r>
              <a:rPr lang="zh-CN" altLang="en-US" dirty="0"/>
              <a:t>端回归测试自动化进展：</a:t>
            </a:r>
            <a:r>
              <a:rPr lang="en-US" altLang="zh-CN" b="1" dirty="0"/>
              <a:t>81%</a:t>
            </a:r>
            <a:r>
              <a:rPr lang="zh-CN" altLang="en-US" dirty="0"/>
              <a:t>，</a:t>
            </a:r>
            <a:r>
              <a:rPr lang="en-US" altLang="zh-CN" dirty="0"/>
              <a:t>532/659</a:t>
            </a:r>
            <a:r>
              <a:rPr lang="zh-CN" altLang="en-US" dirty="0"/>
              <a:t>，</a:t>
            </a:r>
            <a:r>
              <a:rPr lang="zh-CN" altLang="en-US" b="1" dirty="0"/>
              <a:t>自动化连跑通过率</a:t>
            </a:r>
            <a:r>
              <a:rPr lang="en-US" altLang="zh-CN" b="1" dirty="0"/>
              <a:t>94%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5A84EB-465C-179F-7C93-16B2DB0301E5}"/>
              </a:ext>
            </a:extLst>
          </p:cNvPr>
          <p:cNvSpPr txBox="1"/>
          <p:nvPr/>
        </p:nvSpPr>
        <p:spPr>
          <a:xfrm>
            <a:off x="413475" y="2180242"/>
            <a:ext cx="5128652" cy="646331"/>
          </a:xfrm>
          <a:prstGeom prst="rect">
            <a:avLst/>
          </a:prstGeom>
          <a:solidFill>
            <a:srgbClr val="C1E5F5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【</a:t>
            </a:r>
            <a:r>
              <a:rPr lang="zh-CN" altLang="en-US" dirty="0"/>
              <a:t>电脑管家</a:t>
            </a:r>
            <a:r>
              <a:rPr lang="en-US" altLang="zh-CN" dirty="0"/>
              <a:t>】</a:t>
            </a:r>
            <a:r>
              <a:rPr lang="zh-CN" altLang="en-US" dirty="0"/>
              <a:t>发布版本回归测试用例自动化进展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12D9A1-D47F-FE61-EF37-E02323DB1D7B}"/>
              </a:ext>
            </a:extLst>
          </p:cNvPr>
          <p:cNvSpPr txBox="1"/>
          <p:nvPr/>
        </p:nvSpPr>
        <p:spPr>
          <a:xfrm>
            <a:off x="413475" y="2549574"/>
            <a:ext cx="512865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电管</a:t>
            </a:r>
            <a:r>
              <a:rPr lang="en-US" altLang="zh-CN" dirty="0"/>
              <a:t>win</a:t>
            </a:r>
            <a:r>
              <a:rPr lang="zh-CN" altLang="en-US" dirty="0"/>
              <a:t>端回归测试自动化进展：</a:t>
            </a:r>
            <a:r>
              <a:rPr lang="en-US" altLang="zh-CN" b="1" dirty="0"/>
              <a:t>65%</a:t>
            </a:r>
            <a:r>
              <a:rPr lang="zh-CN" altLang="en-US" dirty="0"/>
              <a:t>，</a:t>
            </a:r>
            <a:r>
              <a:rPr lang="en-US" altLang="zh-CN" dirty="0"/>
              <a:t>282/430</a:t>
            </a:r>
            <a:r>
              <a:rPr lang="zh-CN" altLang="en-US" dirty="0"/>
              <a:t>，</a:t>
            </a:r>
            <a:r>
              <a:rPr lang="zh-CN" altLang="en-US" b="1" dirty="0"/>
              <a:t>自动化连跑通过率</a:t>
            </a:r>
            <a:r>
              <a:rPr lang="en-US" altLang="zh-CN" b="1" dirty="0"/>
              <a:t>90%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CBBFC-C900-08BF-BA65-6F7C51D29BE2}"/>
              </a:ext>
            </a:extLst>
          </p:cNvPr>
          <p:cNvSpPr txBox="1"/>
          <p:nvPr/>
        </p:nvSpPr>
        <p:spPr>
          <a:xfrm>
            <a:off x="413475" y="3429000"/>
            <a:ext cx="5128652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存在的问题：</a:t>
            </a:r>
            <a:endParaRPr lang="en-US" altLang="zh-CN" dirty="0"/>
          </a:p>
          <a:p>
            <a:r>
              <a:rPr lang="zh-CN" altLang="en-US" dirty="0"/>
              <a:t>模型幻觉、坐标定位不准确，导致首次执行通过率低于</a:t>
            </a:r>
            <a:r>
              <a:rPr lang="en-US" altLang="zh-CN" dirty="0"/>
              <a:t>90%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解决方案：不准确的场景替换为闭源模型</a:t>
            </a:r>
          </a:p>
        </p:txBody>
      </p:sp>
      <p:pic>
        <p:nvPicPr>
          <p:cNvPr id="11" name="图片 10" descr="图表, 条形图&#10;&#10;AI 生成的内容可能不正确。">
            <a:extLst>
              <a:ext uri="{FF2B5EF4-FFF2-40B4-BE49-F238E27FC236}">
                <a16:creationId xmlns:a16="http://schemas.microsoft.com/office/drawing/2014/main" id="{6CB7A65E-677D-D4F7-DE02-86A322933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369" y="749081"/>
            <a:ext cx="6117156" cy="1754327"/>
          </a:xfrm>
          <a:prstGeom prst="rect">
            <a:avLst/>
          </a:prstGeom>
        </p:spPr>
      </p:pic>
      <p:pic>
        <p:nvPicPr>
          <p:cNvPr id="13" name="图片 1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66E1DEF-3E76-114E-2B31-58C7E2B03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274" y="2644159"/>
            <a:ext cx="6096000" cy="1905468"/>
          </a:xfrm>
          <a:prstGeom prst="rect">
            <a:avLst/>
          </a:prstGeom>
        </p:spPr>
      </p:pic>
      <p:pic>
        <p:nvPicPr>
          <p:cNvPr id="15" name="图片 14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2C854B5A-9119-2751-1B85-EE0F398CEF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274" y="4597491"/>
            <a:ext cx="6096000" cy="1902691"/>
          </a:xfrm>
          <a:prstGeom prst="rect">
            <a:avLst/>
          </a:prstGeom>
        </p:spPr>
      </p:pic>
      <p:pic>
        <p:nvPicPr>
          <p:cNvPr id="10" name="Picture 1">
            <a:extLst>
              <a:ext uri="{FF2B5EF4-FFF2-40B4-BE49-F238E27FC236}">
                <a16:creationId xmlns:a16="http://schemas.microsoft.com/office/drawing/2014/main" id="{3E96986B-0E6F-72CC-81CD-25A29BE0D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6301"/>
            <a:ext cx="505609" cy="38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91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EF7F-E993-9EE0-5E68-C47D079A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D783E95-9170-74FE-E76B-CAE2178E07B4}"/>
              </a:ext>
            </a:extLst>
          </p:cNvPr>
          <p:cNvSpPr txBox="1"/>
          <p:nvPr/>
        </p:nvSpPr>
        <p:spPr>
          <a:xfrm>
            <a:off x="622491" y="213181"/>
            <a:ext cx="489888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专项测试进展汇报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058407-7750-872A-2EE9-388C52492FA1}"/>
              </a:ext>
            </a:extLst>
          </p:cNvPr>
          <p:cNvSpPr txBox="1"/>
          <p:nvPr/>
        </p:nvSpPr>
        <p:spPr>
          <a:xfrm>
            <a:off x="392726" y="749082"/>
            <a:ext cx="5128652" cy="369332"/>
          </a:xfrm>
          <a:prstGeom prst="rect">
            <a:avLst/>
          </a:prstGeom>
          <a:solidFill>
            <a:srgbClr val="C1E5F5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一、</a:t>
            </a:r>
            <a:r>
              <a:rPr lang="en-US" altLang="zh-CN" dirty="0"/>
              <a:t>【</a:t>
            </a:r>
            <a:r>
              <a:rPr lang="en-US" altLang="zh-CN" dirty="0" err="1"/>
              <a:t>iOA】DLP</a:t>
            </a:r>
            <a:r>
              <a:rPr lang="zh-CN" altLang="en-US" dirty="0"/>
              <a:t>测试专项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9DAA38-759E-AB86-088B-E38F9460E740}"/>
              </a:ext>
            </a:extLst>
          </p:cNvPr>
          <p:cNvSpPr txBox="1"/>
          <p:nvPr/>
        </p:nvSpPr>
        <p:spPr>
          <a:xfrm>
            <a:off x="392726" y="1118414"/>
            <a:ext cx="5128652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背景</a:t>
            </a:r>
            <a:r>
              <a:rPr lang="zh-CN" altLang="en-US" sz="1600" dirty="0"/>
              <a:t>：</a:t>
            </a:r>
            <a:r>
              <a:rPr lang="en-US" altLang="zh-CN" sz="1600" dirty="0" err="1"/>
              <a:t>iOA</a:t>
            </a:r>
            <a:r>
              <a:rPr lang="en-US" altLang="zh-CN" sz="1600" dirty="0"/>
              <a:t> DLP</a:t>
            </a:r>
            <a:r>
              <a:rPr lang="zh-CN" altLang="en-US" sz="1600" dirty="0"/>
              <a:t>模块内部软件覆盖度低（</a:t>
            </a:r>
            <a:r>
              <a:rPr lang="en-US" altLang="zh-CN" sz="1600" dirty="0"/>
              <a:t>14%</a:t>
            </a:r>
            <a:r>
              <a:rPr lang="zh-CN" altLang="en-US" sz="1600" dirty="0"/>
              <a:t>），内部已知问题较多</a:t>
            </a:r>
            <a:endParaRPr lang="en-US" altLang="zh-CN" sz="1600" dirty="0"/>
          </a:p>
          <a:p>
            <a:r>
              <a:rPr lang="zh-CN" altLang="en-US" sz="1600" b="1" dirty="0"/>
              <a:t>目标</a:t>
            </a:r>
            <a:r>
              <a:rPr lang="zh-CN" altLang="en-US" sz="1600" dirty="0"/>
              <a:t>：内部软件覆盖度达到</a:t>
            </a:r>
            <a:r>
              <a:rPr lang="en-US" altLang="zh-CN" sz="1600" dirty="0"/>
              <a:t>100%</a:t>
            </a:r>
            <a:r>
              <a:rPr lang="zh-CN" altLang="en-US" sz="1600" dirty="0"/>
              <a:t>，已知问题拆解做技术或产品补齐</a:t>
            </a:r>
            <a:endParaRPr lang="en-US" altLang="zh-CN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AB937B-5ABD-6A6B-B2FA-90809BF4FD65}"/>
              </a:ext>
            </a:extLst>
          </p:cNvPr>
          <p:cNvSpPr txBox="1"/>
          <p:nvPr/>
        </p:nvSpPr>
        <p:spPr>
          <a:xfrm>
            <a:off x="6300868" y="692943"/>
            <a:ext cx="5128652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进展描述</a:t>
            </a:r>
            <a:r>
              <a:rPr lang="zh-CN" altLang="en-US" sz="1600" dirty="0"/>
              <a:t>：</a:t>
            </a:r>
            <a:r>
              <a:rPr lang="en-US" altLang="zh-CN" sz="1600" dirty="0"/>
              <a:t>win</a:t>
            </a:r>
            <a:r>
              <a:rPr lang="zh-CN" altLang="en-US" sz="1600" dirty="0"/>
              <a:t>进度</a:t>
            </a:r>
            <a:r>
              <a:rPr lang="en-US" altLang="zh-CN" sz="1600" dirty="0"/>
              <a:t>44.6%</a:t>
            </a:r>
            <a:r>
              <a:rPr lang="zh-CN" altLang="en-US" sz="1600" dirty="0"/>
              <a:t>（</a:t>
            </a:r>
            <a:r>
              <a:rPr lang="en-US" altLang="zh-CN" sz="1600" dirty="0"/>
              <a:t>54/121</a:t>
            </a:r>
            <a:r>
              <a:rPr lang="zh-CN" altLang="en-US" sz="1600" dirty="0"/>
              <a:t>）</a:t>
            </a:r>
            <a:r>
              <a:rPr lang="en-US" altLang="zh-CN" sz="1600" dirty="0"/>
              <a:t>mac</a:t>
            </a:r>
            <a:r>
              <a:rPr lang="zh-CN" altLang="en-US" sz="1600" dirty="0"/>
              <a:t>进度</a:t>
            </a:r>
            <a:r>
              <a:rPr lang="en-US" altLang="zh-CN" sz="1600" dirty="0"/>
              <a:t>46.2%</a:t>
            </a:r>
            <a:r>
              <a:rPr lang="zh-CN" altLang="en-US" sz="1600" dirty="0"/>
              <a:t>（</a:t>
            </a:r>
            <a:r>
              <a:rPr lang="en-US" altLang="zh-CN" sz="1600" dirty="0"/>
              <a:t>50/108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zh-CN" altLang="en-US" sz="1600" b="1" dirty="0"/>
              <a:t>发现问题</a:t>
            </a:r>
            <a:r>
              <a:rPr lang="zh-CN" altLang="en-US" sz="1600" dirty="0"/>
              <a:t>：发现</a:t>
            </a:r>
            <a:r>
              <a:rPr lang="en-US" altLang="zh-CN" sz="1600" dirty="0"/>
              <a:t>102</a:t>
            </a:r>
            <a:r>
              <a:rPr lang="zh-CN" altLang="en-US" sz="1600" dirty="0"/>
              <a:t>问题，解决率</a:t>
            </a:r>
            <a:r>
              <a:rPr lang="en-US" altLang="zh-CN" sz="1600" dirty="0"/>
              <a:t>38.2%(39/102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zh-CN" altLang="en-US" sz="1600" dirty="0"/>
              <a:t>已知问题占比</a:t>
            </a:r>
            <a:r>
              <a:rPr lang="en-US" altLang="zh-CN" sz="1600" dirty="0"/>
              <a:t>xx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334F0AAE-5656-8DD5-56B1-648050925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6301"/>
            <a:ext cx="505609" cy="38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81992D16-B0F1-7A14-B75A-88B25D52E3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7777031"/>
              </p:ext>
            </p:extLst>
          </p:nvPr>
        </p:nvGraphicFramePr>
        <p:xfrm>
          <a:off x="392726" y="2117387"/>
          <a:ext cx="5588000" cy="2105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F97CE580-A24C-F7EF-E50F-E2569BA2D1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5948040"/>
              </p:ext>
            </p:extLst>
          </p:nvPr>
        </p:nvGraphicFramePr>
        <p:xfrm>
          <a:off x="226503" y="4180364"/>
          <a:ext cx="5920446" cy="2588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41CAD3E3-3D5A-7FA0-4FCC-F74F568B5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924594"/>
              </p:ext>
            </p:extLst>
          </p:nvPr>
        </p:nvGraphicFramePr>
        <p:xfrm>
          <a:off x="6300868" y="2176666"/>
          <a:ext cx="5421440" cy="3019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749">
                  <a:extLst>
                    <a:ext uri="{9D8B030D-6E8A-4147-A177-3AD203B41FA5}">
                      <a16:colId xmlns:a16="http://schemas.microsoft.com/office/drawing/2014/main" val="2589051105"/>
                    </a:ext>
                  </a:extLst>
                </a:gridCol>
                <a:gridCol w="3087691">
                  <a:extLst>
                    <a:ext uri="{9D8B030D-6E8A-4147-A177-3AD203B41FA5}">
                      <a16:colId xmlns:a16="http://schemas.microsoft.com/office/drawing/2014/main" val="102035137"/>
                    </a:ext>
                  </a:extLst>
                </a:gridCol>
              </a:tblGrid>
              <a:tr h="484088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已知问题分类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典型已知问题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267143"/>
                  </a:ext>
                </a:extLst>
              </a:tr>
              <a:tr h="525557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技术原理上无法支持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DLP</a:t>
                      </a:r>
                      <a:r>
                        <a:rPr lang="zh-CN" altLang="en-US" sz="1400" dirty="0"/>
                        <a:t>对外发后转发的文件无法审计与拦截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865895"/>
                  </a:ext>
                </a:extLst>
              </a:tr>
              <a:tr h="958369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设计如此，暂不修复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同款网页版软件有多个网址情况下，其中未运营到的网页版软件网址可能导致已运营到的网址无法拦截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21120"/>
                  </a:ext>
                </a:extLst>
              </a:tr>
              <a:tr h="525557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客观因素导致无法修复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后台进程读取剪贴板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文件可能误触发拦截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886141"/>
                  </a:ext>
                </a:extLst>
              </a:tr>
              <a:tr h="525557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待排期修复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文件大小超过</a:t>
                      </a:r>
                      <a:r>
                        <a:rPr lang="en-US" altLang="zh-CN" sz="1400" dirty="0"/>
                        <a:t>5M</a:t>
                      </a:r>
                      <a:r>
                        <a:rPr lang="zh-CN" altLang="en-US" sz="1400" dirty="0"/>
                        <a:t>的文件只审计前</a:t>
                      </a:r>
                      <a:r>
                        <a:rPr lang="en-US" altLang="zh-CN" sz="1400" dirty="0"/>
                        <a:t>5M</a:t>
                      </a:r>
                      <a:r>
                        <a:rPr lang="zh-CN" altLang="en-US" sz="1400" dirty="0"/>
                        <a:t>，之后的内容会放行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945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974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771C1-5064-CD1D-D01E-51D44C59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6C27F3C-C922-7DF5-E273-B81C4CFD8E6B}"/>
              </a:ext>
            </a:extLst>
          </p:cNvPr>
          <p:cNvSpPr txBox="1"/>
          <p:nvPr/>
        </p:nvSpPr>
        <p:spPr>
          <a:xfrm>
            <a:off x="622491" y="213181"/>
            <a:ext cx="489888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专项测试进展汇报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3A1947-3EED-FC05-9437-4EFF93D74F22}"/>
              </a:ext>
            </a:extLst>
          </p:cNvPr>
          <p:cNvSpPr txBox="1"/>
          <p:nvPr/>
        </p:nvSpPr>
        <p:spPr>
          <a:xfrm>
            <a:off x="392726" y="749082"/>
            <a:ext cx="5810844" cy="369332"/>
          </a:xfrm>
          <a:prstGeom prst="rect">
            <a:avLst/>
          </a:prstGeom>
          <a:solidFill>
            <a:srgbClr val="C1E5F5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二、</a:t>
            </a:r>
            <a:r>
              <a:rPr lang="en-US" altLang="zh-CN" dirty="0"/>
              <a:t>【</a:t>
            </a:r>
            <a:r>
              <a:rPr lang="en-US" altLang="zh-CN" dirty="0" err="1"/>
              <a:t>iOA</a:t>
            </a:r>
            <a:r>
              <a:rPr lang="en-US" altLang="zh-CN" dirty="0"/>
              <a:t>】</a:t>
            </a:r>
            <a:r>
              <a:rPr lang="zh-CN" altLang="en-US" dirty="0"/>
              <a:t>沙箱高可用专项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C06811-056B-EA23-B042-334169748441}"/>
              </a:ext>
            </a:extLst>
          </p:cNvPr>
          <p:cNvSpPr txBox="1"/>
          <p:nvPr/>
        </p:nvSpPr>
        <p:spPr>
          <a:xfrm>
            <a:off x="392725" y="1118414"/>
            <a:ext cx="5810845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背景</a:t>
            </a:r>
            <a:r>
              <a:rPr lang="zh-CN" altLang="en-US" sz="1600" dirty="0"/>
              <a:t>：测试环境不具备高可用演练条件，高可用场景测试缺失，产品高可用风险高</a:t>
            </a:r>
            <a:endParaRPr lang="en-US" altLang="zh-CN" sz="1600" dirty="0"/>
          </a:p>
          <a:p>
            <a:r>
              <a:rPr lang="zh-CN" altLang="en-US" sz="1600" b="1" dirty="0"/>
              <a:t>目标</a:t>
            </a:r>
            <a:r>
              <a:rPr lang="zh-CN" altLang="en-US" sz="1600" dirty="0"/>
              <a:t>：搭建沙箱高可用测试环境，定期执行高可用演练，发现和解决核心高可用问题</a:t>
            </a:r>
            <a:endParaRPr lang="en-US" altLang="zh-CN" sz="1600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50545DB1-8604-08C9-A670-50D64BFA2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6301"/>
            <a:ext cx="505609" cy="38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C39B618-6EFB-DB03-FEFC-4F67AB797D31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39941" y="3937634"/>
            <a:ext cx="57783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79D7DC0-2DDE-461D-E5B3-73CEE3DB2909}"/>
              </a:ext>
            </a:extLst>
          </p:cNvPr>
          <p:cNvSpPr txBox="1"/>
          <p:nvPr/>
        </p:nvSpPr>
        <p:spPr>
          <a:xfrm>
            <a:off x="2101184" y="354203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12.30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4A6EC8-3411-AE20-DD6F-EC3838A1556D}"/>
              </a:ext>
            </a:extLst>
          </p:cNvPr>
          <p:cNvSpPr txBox="1"/>
          <p:nvPr/>
        </p:nvSpPr>
        <p:spPr>
          <a:xfrm>
            <a:off x="3773968" y="3542037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05FBB5-6D65-17E9-3AB5-E89AA209A22B}"/>
              </a:ext>
            </a:extLst>
          </p:cNvPr>
          <p:cNvSpPr txBox="1"/>
          <p:nvPr/>
        </p:nvSpPr>
        <p:spPr>
          <a:xfrm>
            <a:off x="5595686" y="3542037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2.30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E08D867-F31D-E222-218B-61F3C10219AE}"/>
              </a:ext>
            </a:extLst>
          </p:cNvPr>
          <p:cNvSpPr/>
          <p:nvPr/>
        </p:nvSpPr>
        <p:spPr>
          <a:xfrm>
            <a:off x="4141221" y="3886437"/>
            <a:ext cx="102394" cy="102394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C31E7E2-41D6-51CB-771A-7CAB0D888AB5}"/>
              </a:ext>
            </a:extLst>
          </p:cNvPr>
          <p:cNvSpPr/>
          <p:nvPr/>
        </p:nvSpPr>
        <p:spPr>
          <a:xfrm>
            <a:off x="5941860" y="3886437"/>
            <a:ext cx="102394" cy="102394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0776FD4-C5E6-48A0-1341-959671CE863F}"/>
              </a:ext>
            </a:extLst>
          </p:cNvPr>
          <p:cNvSpPr/>
          <p:nvPr/>
        </p:nvSpPr>
        <p:spPr>
          <a:xfrm>
            <a:off x="2340581" y="3886437"/>
            <a:ext cx="102394" cy="102394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04A4967-4DBE-54D4-5074-A970A69F0049}"/>
              </a:ext>
            </a:extLst>
          </p:cNvPr>
          <p:cNvSpPr/>
          <p:nvPr/>
        </p:nvSpPr>
        <p:spPr>
          <a:xfrm>
            <a:off x="539941" y="3886437"/>
            <a:ext cx="102394" cy="102394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上 16">
            <a:extLst>
              <a:ext uri="{FF2B5EF4-FFF2-40B4-BE49-F238E27FC236}">
                <a16:creationId xmlns:a16="http://schemas.microsoft.com/office/drawing/2014/main" id="{D17083D3-7D12-986D-BC08-071AC8964302}"/>
              </a:ext>
            </a:extLst>
          </p:cNvPr>
          <p:cNvSpPr/>
          <p:nvPr/>
        </p:nvSpPr>
        <p:spPr>
          <a:xfrm>
            <a:off x="1575345" y="3978399"/>
            <a:ext cx="251460" cy="200400"/>
          </a:xfrm>
          <a:prstGeom prst="up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BF3F46-722C-3693-6518-F5D31EBA73F0}"/>
              </a:ext>
            </a:extLst>
          </p:cNvPr>
          <p:cNvSpPr txBox="1"/>
          <p:nvPr/>
        </p:nvSpPr>
        <p:spPr>
          <a:xfrm>
            <a:off x="1300965" y="414338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当前位置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284393E-4967-E0C9-6FAC-255A824A5674}"/>
              </a:ext>
            </a:extLst>
          </p:cNvPr>
          <p:cNvCxnSpPr>
            <a:cxnSpLocks/>
          </p:cNvCxnSpPr>
          <p:nvPr/>
        </p:nvCxnSpPr>
        <p:spPr>
          <a:xfrm>
            <a:off x="603816" y="2825645"/>
            <a:ext cx="0" cy="72390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75AD4FC-B3F8-8C35-C0F0-485874D2146E}"/>
              </a:ext>
            </a:extLst>
          </p:cNvPr>
          <p:cNvCxnSpPr>
            <a:cxnSpLocks/>
          </p:cNvCxnSpPr>
          <p:nvPr/>
        </p:nvCxnSpPr>
        <p:spPr>
          <a:xfrm>
            <a:off x="2346043" y="2823588"/>
            <a:ext cx="0" cy="72390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DA8757B-3445-C20C-2DFC-A5F66AFB46AB}"/>
              </a:ext>
            </a:extLst>
          </p:cNvPr>
          <p:cNvCxnSpPr>
            <a:cxnSpLocks/>
          </p:cNvCxnSpPr>
          <p:nvPr/>
        </p:nvCxnSpPr>
        <p:spPr>
          <a:xfrm>
            <a:off x="4154155" y="2823588"/>
            <a:ext cx="0" cy="72390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956FE7C-A957-8C8F-1435-156C85EC5913}"/>
              </a:ext>
            </a:extLst>
          </p:cNvPr>
          <p:cNvCxnSpPr>
            <a:cxnSpLocks/>
          </p:cNvCxnSpPr>
          <p:nvPr/>
        </p:nvCxnSpPr>
        <p:spPr>
          <a:xfrm>
            <a:off x="6076540" y="2825645"/>
            <a:ext cx="0" cy="72390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D2038F6-7533-BB2A-66D3-FE73E0796C22}"/>
              </a:ext>
            </a:extLst>
          </p:cNvPr>
          <p:cNvCxnSpPr>
            <a:cxnSpLocks/>
          </p:cNvCxnSpPr>
          <p:nvPr/>
        </p:nvCxnSpPr>
        <p:spPr>
          <a:xfrm>
            <a:off x="599013" y="3549545"/>
            <a:ext cx="17192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81BB640-B59C-805B-450C-F57322846166}"/>
              </a:ext>
            </a:extLst>
          </p:cNvPr>
          <p:cNvCxnSpPr>
            <a:cxnSpLocks/>
          </p:cNvCxnSpPr>
          <p:nvPr/>
        </p:nvCxnSpPr>
        <p:spPr>
          <a:xfrm>
            <a:off x="2346043" y="3337938"/>
            <a:ext cx="1790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1849A7A-20A8-14AE-3488-F352FCCC58D3}"/>
              </a:ext>
            </a:extLst>
          </p:cNvPr>
          <p:cNvCxnSpPr>
            <a:cxnSpLocks/>
          </p:cNvCxnSpPr>
          <p:nvPr/>
        </p:nvCxnSpPr>
        <p:spPr>
          <a:xfrm>
            <a:off x="4158687" y="3221885"/>
            <a:ext cx="18855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23F8163-50A2-D14F-0795-667E4D4363FD}"/>
              </a:ext>
            </a:extLst>
          </p:cNvPr>
          <p:cNvSpPr txBox="1"/>
          <p:nvPr/>
        </p:nvSpPr>
        <p:spPr>
          <a:xfrm>
            <a:off x="647393" y="3005116"/>
            <a:ext cx="162992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①沙箱环境搭建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02148E6-3188-F7F7-B007-C92625EE6CA8}"/>
              </a:ext>
            </a:extLst>
          </p:cNvPr>
          <p:cNvSpPr txBox="1"/>
          <p:nvPr/>
        </p:nvSpPr>
        <p:spPr>
          <a:xfrm>
            <a:off x="3552721" y="2476419"/>
            <a:ext cx="2523819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③高可用日常演练和质量门禁建设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F3372A-2950-76B5-E0BF-ECF6112F38C6}"/>
              </a:ext>
            </a:extLst>
          </p:cNvPr>
          <p:cNvSpPr txBox="1"/>
          <p:nvPr/>
        </p:nvSpPr>
        <p:spPr>
          <a:xfrm>
            <a:off x="2423548" y="2825645"/>
            <a:ext cx="1651505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②高可用场景演练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4FC1C6D-0117-C14D-BA34-F807720D01E2}"/>
              </a:ext>
            </a:extLst>
          </p:cNvPr>
          <p:cNvSpPr txBox="1"/>
          <p:nvPr/>
        </p:nvSpPr>
        <p:spPr>
          <a:xfrm>
            <a:off x="316938" y="3542966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468241E-AFA5-5FCC-1B9F-7ED694AEB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127" y="2071548"/>
            <a:ext cx="5777714" cy="404121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0F009779-5FF4-CE2F-18DC-016C30E9C28D}"/>
              </a:ext>
            </a:extLst>
          </p:cNvPr>
          <p:cNvSpPr/>
          <p:nvPr/>
        </p:nvSpPr>
        <p:spPr>
          <a:xfrm>
            <a:off x="179321" y="4586319"/>
            <a:ext cx="1227792" cy="6300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PAAS</a:t>
            </a:r>
            <a:r>
              <a:rPr lang="zh-CN" altLang="en-US" sz="1400" dirty="0">
                <a:solidFill>
                  <a:sysClr val="windowText" lastClr="000000"/>
                </a:solidFill>
              </a:rPr>
              <a:t>资源</a:t>
            </a:r>
            <a:r>
              <a:rPr lang="en-US" altLang="zh-CN" sz="1400" dirty="0">
                <a:solidFill>
                  <a:sysClr val="windowText" lastClr="000000"/>
                </a:solidFill>
              </a:rPr>
              <a:t>IAAS</a:t>
            </a:r>
            <a:r>
              <a:rPr lang="zh-CN" altLang="en-US" sz="1400" dirty="0">
                <a:solidFill>
                  <a:sysClr val="windowText" lastClr="000000"/>
                </a:solidFill>
              </a:rPr>
              <a:t>资源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5E384E0-8B5F-DB87-658E-C0537A856A21}"/>
              </a:ext>
            </a:extLst>
          </p:cNvPr>
          <p:cNvSpPr/>
          <p:nvPr/>
        </p:nvSpPr>
        <p:spPr>
          <a:xfrm>
            <a:off x="1712692" y="4586319"/>
            <a:ext cx="1227792" cy="6280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ysClr val="windowText" lastClr="000000"/>
                </a:solidFill>
              </a:rPr>
              <a:t>环境模板配置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E4887B8-399F-4A1F-80B9-778658D08A2D}"/>
              </a:ext>
            </a:extLst>
          </p:cNvPr>
          <p:cNvSpPr/>
          <p:nvPr/>
        </p:nvSpPr>
        <p:spPr>
          <a:xfrm>
            <a:off x="3246063" y="4586320"/>
            <a:ext cx="1227792" cy="6280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ysClr val="windowText" lastClr="000000"/>
                </a:solidFill>
              </a:rPr>
              <a:t>七彩石配置更新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EE4A33-51DC-1F00-4A5D-F2F492CDA247}"/>
              </a:ext>
            </a:extLst>
          </p:cNvPr>
          <p:cNvSpPr/>
          <p:nvPr/>
        </p:nvSpPr>
        <p:spPr>
          <a:xfrm>
            <a:off x="4779433" y="4574568"/>
            <a:ext cx="1227792" cy="6280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ysClr val="windowText" lastClr="000000"/>
                </a:solidFill>
              </a:rPr>
              <a:t>流水线改造</a:t>
            </a:r>
            <a:endParaRPr lang="en-US" altLang="zh-CN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zh-CN" altLang="en-US" sz="1400" dirty="0">
                <a:solidFill>
                  <a:sysClr val="windowText" lastClr="000000"/>
                </a:solidFill>
              </a:rPr>
              <a:t>服务部署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8094CFC-E306-1B2F-8E3A-A5B56AA7C3F8}"/>
              </a:ext>
            </a:extLst>
          </p:cNvPr>
          <p:cNvSpPr/>
          <p:nvPr/>
        </p:nvSpPr>
        <p:spPr>
          <a:xfrm>
            <a:off x="247836" y="5568944"/>
            <a:ext cx="1227792" cy="6280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ysClr val="windowText" lastClr="000000"/>
                </a:solidFill>
              </a:rPr>
              <a:t>计费回调</a:t>
            </a:r>
            <a:endParaRPr lang="en-US" altLang="zh-CN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zh-CN" altLang="en-US" sz="1400" dirty="0">
                <a:solidFill>
                  <a:sysClr val="windowText" lastClr="000000"/>
                </a:solidFill>
              </a:rPr>
              <a:t>租户开箱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AF69BF0-E7AC-683A-163E-CA49E459E73D}"/>
              </a:ext>
            </a:extLst>
          </p:cNvPr>
          <p:cNvSpPr/>
          <p:nvPr/>
        </p:nvSpPr>
        <p:spPr>
          <a:xfrm>
            <a:off x="1768462" y="5568944"/>
            <a:ext cx="1227792" cy="6280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ysClr val="windowText" lastClr="000000"/>
                </a:solidFill>
              </a:rPr>
              <a:t>基本功能测试</a:t>
            </a:r>
            <a:endParaRPr lang="en-US" altLang="zh-CN" sz="1400" dirty="0">
              <a:solidFill>
                <a:sysClr val="windowText" lastClr="000000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B7AD30D-4982-F292-ED8C-AA770D068C12}"/>
              </a:ext>
            </a:extLst>
          </p:cNvPr>
          <p:cNvSpPr/>
          <p:nvPr/>
        </p:nvSpPr>
        <p:spPr>
          <a:xfrm>
            <a:off x="3289088" y="5587707"/>
            <a:ext cx="1227792" cy="6280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ysClr val="windowText" lastClr="000000"/>
                </a:solidFill>
              </a:rPr>
              <a:t>拨测任务调试</a:t>
            </a:r>
            <a:endParaRPr lang="en-US" altLang="zh-CN" sz="1400" dirty="0">
              <a:solidFill>
                <a:sysClr val="windowText" lastClr="00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0EE0B97-27F0-5DF7-DFEA-3425C93DC250}"/>
              </a:ext>
            </a:extLst>
          </p:cNvPr>
          <p:cNvSpPr/>
          <p:nvPr/>
        </p:nvSpPr>
        <p:spPr>
          <a:xfrm>
            <a:off x="4809715" y="5568944"/>
            <a:ext cx="1227792" cy="62801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ysClr val="windowText" lastClr="000000"/>
                </a:solidFill>
              </a:rPr>
              <a:t>沙箱监控部署配置</a:t>
            </a:r>
            <a:endParaRPr lang="en-US" altLang="zh-CN" sz="1400" dirty="0">
              <a:solidFill>
                <a:sysClr val="windowText" lastClr="000000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BF2CEE5-8830-E931-A929-D1BA7317E2DA}"/>
              </a:ext>
            </a:extLst>
          </p:cNvPr>
          <p:cNvSpPr txBox="1"/>
          <p:nvPr/>
        </p:nvSpPr>
        <p:spPr>
          <a:xfrm>
            <a:off x="6274544" y="749082"/>
            <a:ext cx="5810845" cy="10772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沙箱环境拓扑</a:t>
            </a:r>
            <a:r>
              <a:rPr lang="zh-CN" altLang="en-US" sz="1600" dirty="0"/>
              <a:t>：模拟现网环境，跨</a:t>
            </a:r>
            <a:r>
              <a:rPr lang="en-US" altLang="zh-CN" sz="1600" dirty="0"/>
              <a:t>AZ</a:t>
            </a:r>
            <a:r>
              <a:rPr lang="zh-CN" altLang="en-US" sz="1600" dirty="0"/>
              <a:t>部署</a:t>
            </a:r>
            <a:endParaRPr lang="en-US" altLang="zh-CN" sz="1600" dirty="0"/>
          </a:p>
          <a:p>
            <a:r>
              <a:rPr lang="zh-CN" altLang="en-US" sz="1600" b="1" dirty="0"/>
              <a:t>当前进展</a:t>
            </a:r>
            <a:r>
              <a:rPr lang="zh-CN" altLang="en-US" sz="1600" dirty="0"/>
              <a:t>：服务部署进度</a:t>
            </a:r>
            <a:r>
              <a:rPr lang="en-US" altLang="zh-CN" sz="1600" dirty="0"/>
              <a:t>84%</a:t>
            </a:r>
            <a:r>
              <a:rPr lang="zh-CN" altLang="en-US" sz="1600" dirty="0"/>
              <a:t>，整体进度</a:t>
            </a:r>
            <a:r>
              <a:rPr lang="en-US" altLang="zh-CN" sz="1600" dirty="0"/>
              <a:t>45%</a:t>
            </a:r>
          </a:p>
          <a:p>
            <a:r>
              <a:rPr lang="zh-CN" altLang="en-US" sz="1600" b="1" dirty="0"/>
              <a:t>遇到问题</a:t>
            </a:r>
            <a:r>
              <a:rPr lang="zh-CN" altLang="en-US" sz="1600" dirty="0"/>
              <a:t>：沙箱环境演练频繁，部署容易遇到卡点，进度缓慢</a:t>
            </a:r>
            <a:endParaRPr lang="en-US" altLang="zh-CN" sz="1600" dirty="0"/>
          </a:p>
          <a:p>
            <a:r>
              <a:rPr lang="zh-CN" altLang="en-US" sz="1600" b="1" dirty="0"/>
              <a:t>解决方案</a:t>
            </a:r>
            <a:r>
              <a:rPr lang="zh-CN" altLang="en-US" sz="1600" dirty="0"/>
              <a:t>：周三</a:t>
            </a:r>
            <a:r>
              <a:rPr lang="en-US" altLang="zh-CN" sz="1600" dirty="0"/>
              <a:t>-</a:t>
            </a:r>
            <a:r>
              <a:rPr lang="zh-CN" altLang="en-US" sz="1600" dirty="0"/>
              <a:t>周五避开演练时间部署</a:t>
            </a:r>
            <a:endParaRPr lang="en-US" altLang="zh-CN" sz="1600" dirty="0"/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58F4FB22-E94B-0A5E-7270-36D8F7E3F6FD}"/>
              </a:ext>
            </a:extLst>
          </p:cNvPr>
          <p:cNvSpPr/>
          <p:nvPr/>
        </p:nvSpPr>
        <p:spPr>
          <a:xfrm>
            <a:off x="1462704" y="4789130"/>
            <a:ext cx="194395" cy="1577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4E8B579C-EB1F-2BC2-D882-656FD319E9D6}"/>
              </a:ext>
            </a:extLst>
          </p:cNvPr>
          <p:cNvSpPr/>
          <p:nvPr/>
        </p:nvSpPr>
        <p:spPr>
          <a:xfrm>
            <a:off x="3017648" y="4789130"/>
            <a:ext cx="194395" cy="1577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AB42C8D5-95C1-466A-C736-7A72C544A7F0}"/>
              </a:ext>
            </a:extLst>
          </p:cNvPr>
          <p:cNvSpPr/>
          <p:nvPr/>
        </p:nvSpPr>
        <p:spPr>
          <a:xfrm>
            <a:off x="4533179" y="4789130"/>
            <a:ext cx="194395" cy="1577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720D5F91-B3A7-D66B-C497-7D8BECE173CC}"/>
              </a:ext>
            </a:extLst>
          </p:cNvPr>
          <p:cNvSpPr/>
          <p:nvPr/>
        </p:nvSpPr>
        <p:spPr>
          <a:xfrm>
            <a:off x="1532554" y="5783268"/>
            <a:ext cx="194395" cy="1577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E5892A1B-4D1E-19E4-2750-C517E17CEC63}"/>
              </a:ext>
            </a:extLst>
          </p:cNvPr>
          <p:cNvSpPr/>
          <p:nvPr/>
        </p:nvSpPr>
        <p:spPr>
          <a:xfrm>
            <a:off x="3058095" y="5783268"/>
            <a:ext cx="194395" cy="1577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B6873A70-75CA-675C-C96A-8417AD26659E}"/>
              </a:ext>
            </a:extLst>
          </p:cNvPr>
          <p:cNvSpPr/>
          <p:nvPr/>
        </p:nvSpPr>
        <p:spPr>
          <a:xfrm>
            <a:off x="4564332" y="5783268"/>
            <a:ext cx="194395" cy="1577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E2D1370A-16F9-36F4-0608-FC3243A08D8B}"/>
              </a:ext>
            </a:extLst>
          </p:cNvPr>
          <p:cNvSpPr/>
          <p:nvPr/>
        </p:nvSpPr>
        <p:spPr>
          <a:xfrm>
            <a:off x="6080149" y="4789130"/>
            <a:ext cx="194395" cy="15771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193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6571</TotalTime>
  <Words>555</Words>
  <Application>Microsoft Office PowerPoint</Application>
  <PresentationFormat>宽屏</PresentationFormat>
  <Paragraphs>84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helenshang(尚鸿)</dc:creator>
  <cp:lastModifiedBy>helenshang(尚鸿)</cp:lastModifiedBy>
  <cp:revision>71</cp:revision>
  <dcterms:created xsi:type="dcterms:W3CDTF">2025-11-11T02:53:54Z</dcterms:created>
  <dcterms:modified xsi:type="dcterms:W3CDTF">2025-12-17T07:43:58Z</dcterms:modified>
</cp:coreProperties>
</file>